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0" r:id="rId4"/>
    <p:sldId id="257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0B11-90CD-2F9A-BDB5-7DFEC6A43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9D9A8-AD5E-9FA8-9D44-495F5C6AD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7FD25-4A83-E83D-F446-9FB7B2CB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1A5A5-B9BA-2442-F894-59713B31C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96679-2AD7-D449-3525-21F91499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55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76B9-AACE-D8E2-5294-82F2E2F1E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A6F91-11B5-8494-D94A-703DB4EDA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102C6-7BF6-0DE0-F3B6-14226123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F04DA-B8CE-51CE-994E-05AD5B0A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D1871-2E77-3623-B924-661E756D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56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EA92-5179-229C-B883-99C2EB99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1FF92-AEF4-3623-7729-63A1E48F4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F6D76-1F40-DEB4-30D7-82D3ACAF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1CDA9-795A-5504-5BC9-B8AED559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C7399-E99C-0398-5AD7-E01348DB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57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F5AC-F047-7E39-AA03-EFBB7678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DA4B2-B8B3-BC4F-252F-7502A194C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0DC01-0231-E37D-3541-EEDEACD1F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5E35D-74A7-AF2D-D633-C310C3DA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61D00-D5B2-3F8D-96E2-6DB7C590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41075-DF10-4D03-6889-F90C4D7B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66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8239-54F4-37DA-AEE9-C9909DA4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CA40-8804-1E32-5964-8EFE970BF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F4A90-BAEA-7341-9B7B-5D7D60891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935BE-BD80-2652-95AC-2562713F7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D4E0F-BDD0-1097-DECC-83022A1B8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531BD-D7EC-2E7D-CF7E-2CDF1508F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D9F23-53FD-67C4-C975-125085E6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90086-613A-F5B8-0D69-DC97BF87F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29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0DC6-027E-CB76-0A3D-C2CC6123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FE811-4F55-E845-4067-D557F8D0E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82B6F-5B1C-7884-CEA8-37BEE0E1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1481A-1AC1-256C-B644-648EE5D0D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0D45F-B1E4-E5E8-CAFA-5A6A7BD0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5E9C81-E62C-C5A2-F6C8-922054C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537AD-B465-8BCB-017C-B8DBDC5E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72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E2001-BEB4-10D5-F402-EEE70B28B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9A29B-608D-89CC-B5D0-8C3606061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F0214-8F66-792C-E934-76A30B540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14A12-EADE-967B-2034-3727D77D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67985-36B1-C8CC-014A-C1C59706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0160C-A98B-465C-B994-BE390E75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86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F83C-725D-E76F-2B15-F4F0D40F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3C7F1-321D-3D93-808C-C89D3A9863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7F16A-1FE3-735E-8B6B-3B754669D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8DE48-02E4-226B-16E6-764ECB1A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6DADB-0D43-959C-26E6-91BD1143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8FF0B-F3A9-4429-F06B-015096913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90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433B-0C0E-60E6-E32A-27F2FCBD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AA126-1B06-250E-BEEA-555B5C83C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7EC87-DBFA-BF0B-B46E-611A14EE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E2CC0-B596-37EE-6B80-BBF59B6B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F1CD4-0BDA-5AFF-8056-47560D41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40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69BA1-F61D-D372-0747-E92964540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6174F-1C90-2849-3503-614823AEA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5161B-6085-5D17-3A12-E0F7EF3C2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AAF7-7A50-A505-127C-C8778D41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DAF41-6353-FFED-3510-CAA40934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368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A7716-3622-1FF4-6FC5-A4DAC63F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DBBE6-2367-853E-0B3C-17FFD0D66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95906-ABC7-3A38-9034-CA1DA6024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ADBF2-D799-4271-AB18-4996675D014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DC065-03D8-307D-4AB9-3CD914AAB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21527-E135-4C2A-56A0-7EDFE7DCA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D4F32-19A6-452C-A91C-820E36270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03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76A1-5806-C7E6-8115-38E7774A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C61F76-E0B1-805D-4CBB-D7C09259E1B9}"/>
              </a:ext>
            </a:extLst>
          </p:cNvPr>
          <p:cNvSpPr/>
          <p:nvPr/>
        </p:nvSpPr>
        <p:spPr>
          <a:xfrm>
            <a:off x="648538" y="51724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i="1" u="sng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Self-Aware Embedded System</a:t>
            </a:r>
            <a:endParaRPr lang="en-US" sz="4400" u="sng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2044AC-4FBC-9BDD-22C9-0E263171ABCB}"/>
              </a:ext>
            </a:extLst>
          </p:cNvPr>
          <p:cNvSpPr/>
          <p:nvPr/>
        </p:nvSpPr>
        <p:spPr>
          <a:xfrm>
            <a:off x="648537" y="2226075"/>
            <a:ext cx="3743087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</a:t>
            </a:r>
            <a:r>
              <a:rPr lang="en-US" sz="265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Meta-Cognition MCU</a:t>
            </a: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)</a:t>
            </a:r>
            <a:endParaRPr lang="en-US" sz="2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D884CF-1449-83D4-8F2B-D826D574A34C}"/>
              </a:ext>
            </a:extLst>
          </p:cNvPr>
          <p:cNvSpPr/>
          <p:nvPr/>
        </p:nvSpPr>
        <p:spPr>
          <a:xfrm>
            <a:off x="648537" y="3768878"/>
            <a:ext cx="11123049" cy="88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compact, resilient 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embedded platform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powered by the 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STM32F103C8T6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ARM Cortex-M3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), monitors its own hardware and environment. It enables 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autonomous adaptation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efficient operation, and robust 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fault diagnosis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4F352F-A63D-A3C4-6A4E-9AD2D71AC87E}"/>
              </a:ext>
            </a:extLst>
          </p:cNvPr>
          <p:cNvSpPr/>
          <p:nvPr/>
        </p:nvSpPr>
        <p:spPr>
          <a:xfrm>
            <a:off x="648537" y="4955804"/>
            <a:ext cx="11123049" cy="124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Self-awareness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vital for systems in unpredictable environments. It allows proactive </a:t>
            </a:r>
            <a:r>
              <a:rPr lang="en-US" sz="18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anomaly detection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r>
              <a:rPr lang="en-US" sz="18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intelligent decisions enabled with Machine Learning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ensuring </a:t>
            </a:r>
            <a:r>
              <a:rPr lang="en-US" sz="18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optimal performance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r>
              <a:rPr lang="en-US" sz="18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minimizing downtime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with less manual intervention.</a:t>
            </a:r>
            <a:endParaRPr lang="en-US" sz="18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1743B-0C77-E8EF-93A9-948AE5E46274}"/>
              </a:ext>
            </a:extLst>
          </p:cNvPr>
          <p:cNvSpPr txBox="1"/>
          <p:nvPr/>
        </p:nvSpPr>
        <p:spPr>
          <a:xfrm>
            <a:off x="7714593" y="963580"/>
            <a:ext cx="36607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>
                <a:solidFill>
                  <a:schemeClr val="accent1">
                    <a:lumMod val="50000"/>
                  </a:schemeClr>
                </a:solidFill>
              </a:rPr>
              <a:t>Ayushman Poddar - 24BEC0405</a:t>
            </a:r>
          </a:p>
          <a:p>
            <a:r>
              <a:rPr lang="en-IN" sz="2000" i="1" dirty="0">
                <a:solidFill>
                  <a:schemeClr val="accent1">
                    <a:lumMod val="50000"/>
                  </a:schemeClr>
                </a:solidFill>
              </a:rPr>
              <a:t>P Yogesh 	    - 24BEC0410</a:t>
            </a:r>
          </a:p>
          <a:p>
            <a:r>
              <a:rPr lang="en-IN" sz="2000" i="1" dirty="0">
                <a:solidFill>
                  <a:schemeClr val="accent1">
                    <a:lumMod val="50000"/>
                  </a:schemeClr>
                </a:solidFill>
              </a:rPr>
              <a:t>Tanay Ashwath	    - 24BVD0086</a:t>
            </a:r>
          </a:p>
          <a:p>
            <a:r>
              <a:rPr lang="en-IN" sz="2000" i="1" dirty="0" err="1">
                <a:solidFill>
                  <a:schemeClr val="accent1">
                    <a:lumMod val="50000"/>
                  </a:schemeClr>
                </a:solidFill>
              </a:rPr>
              <a:t>Purti</a:t>
            </a:r>
            <a:r>
              <a:rPr lang="en-IN" sz="20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sz="2000" i="1" dirty="0" err="1">
                <a:solidFill>
                  <a:schemeClr val="accent1">
                    <a:lumMod val="50000"/>
                  </a:schemeClr>
                </a:solidFill>
              </a:rPr>
              <a:t>Badole</a:t>
            </a:r>
            <a:r>
              <a:rPr lang="en-IN" sz="2000" i="1" dirty="0">
                <a:solidFill>
                  <a:schemeClr val="accent1">
                    <a:lumMod val="50000"/>
                  </a:schemeClr>
                </a:solidFill>
              </a:rPr>
              <a:t> 	    - 24BVD0197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D9CBF4-2841-45C5-BA34-CD7CC06582A0}"/>
              </a:ext>
            </a:extLst>
          </p:cNvPr>
          <p:cNvSpPr/>
          <p:nvPr/>
        </p:nvSpPr>
        <p:spPr>
          <a:xfrm>
            <a:off x="7625250" y="876446"/>
            <a:ext cx="3839387" cy="1560786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07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47DEC836-ACE0-90F9-A001-8C1ED6910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22" y="-22686"/>
            <a:ext cx="3792174" cy="6880685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60877487-8999-62B5-6F8D-62FC756ED546}"/>
              </a:ext>
            </a:extLst>
          </p:cNvPr>
          <p:cNvSpPr/>
          <p:nvPr/>
        </p:nvSpPr>
        <p:spPr>
          <a:xfrm>
            <a:off x="9250925" y="726914"/>
            <a:ext cx="2338745" cy="3996809"/>
          </a:xfrm>
          <a:prstGeom prst="roundRect">
            <a:avLst>
              <a:gd name="adj" fmla="val 15198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8719861-F953-46C3-DD20-83267AEC7EB3}"/>
              </a:ext>
            </a:extLst>
          </p:cNvPr>
          <p:cNvSpPr/>
          <p:nvPr/>
        </p:nvSpPr>
        <p:spPr>
          <a:xfrm>
            <a:off x="4020247" y="66176"/>
            <a:ext cx="4460558" cy="55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200" i="1" dirty="0"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Objective</a:t>
            </a:r>
            <a:endParaRPr lang="en-US" sz="3200" i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96143DA-941F-A33F-490F-3E23D0663439}"/>
              </a:ext>
            </a:extLst>
          </p:cNvPr>
          <p:cNvSpPr/>
          <p:nvPr/>
        </p:nvSpPr>
        <p:spPr>
          <a:xfrm>
            <a:off x="4104330" y="726914"/>
            <a:ext cx="2563188" cy="3996809"/>
          </a:xfrm>
          <a:prstGeom prst="roundRect">
            <a:avLst>
              <a:gd name="adj" fmla="val 15198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DF9D4F-1DE2-C167-3C89-3E64F895EB2D}"/>
              </a:ext>
            </a:extLst>
          </p:cNvPr>
          <p:cNvSpPr/>
          <p:nvPr/>
        </p:nvSpPr>
        <p:spPr>
          <a:xfrm>
            <a:off x="4284106" y="981767"/>
            <a:ext cx="2203637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Self‑Awareness</a:t>
            </a:r>
            <a:endParaRPr lang="en-US" sz="2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451A78-7D5F-233E-A5DA-5EE8CC27207B}"/>
              </a:ext>
            </a:extLst>
          </p:cNvPr>
          <p:cNvSpPr/>
          <p:nvPr/>
        </p:nvSpPr>
        <p:spPr>
          <a:xfrm>
            <a:off x="4284105" y="1824432"/>
            <a:ext cx="2203638" cy="263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Continuously assess MCU 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health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(voltage, temperature, performance counters) and sensor integrity.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632A39-28C5-03D3-4230-BF8D5353D437}"/>
              </a:ext>
            </a:extLst>
          </p:cNvPr>
          <p:cNvSpPr/>
          <p:nvPr/>
        </p:nvSpPr>
        <p:spPr>
          <a:xfrm>
            <a:off x="6789849" y="726914"/>
            <a:ext cx="2338745" cy="3996809"/>
          </a:xfrm>
          <a:prstGeom prst="roundRect">
            <a:avLst>
              <a:gd name="adj" fmla="val 15198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03F076-B1A2-6630-F246-244EB05D26B5}"/>
              </a:ext>
            </a:extLst>
          </p:cNvPr>
          <p:cNvSpPr/>
          <p:nvPr/>
        </p:nvSpPr>
        <p:spPr>
          <a:xfrm>
            <a:off x="7049643" y="986709"/>
            <a:ext cx="1819156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Real‑Time Adaptation</a:t>
            </a:r>
            <a:endParaRPr lang="en-US" sz="2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EFF752A-6653-D6BF-CB0B-ECF8B3441E78}"/>
              </a:ext>
            </a:extLst>
          </p:cNvPr>
          <p:cNvSpPr/>
          <p:nvPr/>
        </p:nvSpPr>
        <p:spPr>
          <a:xfrm>
            <a:off x="7049643" y="1824432"/>
            <a:ext cx="1819156" cy="22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Adjust operating modes and workloads to avoid failure and reduce energy consumption.</a:t>
            </a:r>
            <a:endParaRPr lang="en-US" sz="18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D62CF1-787F-B771-6AED-B78679F1BBF9}"/>
              </a:ext>
            </a:extLst>
          </p:cNvPr>
          <p:cNvSpPr/>
          <p:nvPr/>
        </p:nvSpPr>
        <p:spPr>
          <a:xfrm>
            <a:off x="9680056" y="1189531"/>
            <a:ext cx="1819156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Low Power</a:t>
            </a:r>
            <a:endParaRPr lang="en-US" sz="21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29E1A8C-E5F0-EB72-4D46-22D1F1CAEB3F}"/>
              </a:ext>
            </a:extLst>
          </p:cNvPr>
          <p:cNvSpPr/>
          <p:nvPr/>
        </p:nvSpPr>
        <p:spPr>
          <a:xfrm>
            <a:off x="9680056" y="1678759"/>
            <a:ext cx="1819156" cy="263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 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power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strategies to achieve ≥20% savings versus baseline embedded implementations.</a:t>
            </a:r>
            <a:endParaRPr lang="en-US" sz="1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D2C6A8-9633-23EF-9504-127BC4C6CF51}"/>
              </a:ext>
            </a:extLst>
          </p:cNvPr>
          <p:cNvSpPr/>
          <p:nvPr/>
        </p:nvSpPr>
        <p:spPr>
          <a:xfrm>
            <a:off x="4104330" y="4864454"/>
            <a:ext cx="7485340" cy="1762958"/>
          </a:xfrm>
          <a:prstGeom prst="roundRect">
            <a:avLst>
              <a:gd name="adj" fmla="val 20162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22EC5E8-85A6-A88E-9C83-8C6B57BB119D}"/>
              </a:ext>
            </a:extLst>
          </p:cNvPr>
          <p:cNvSpPr/>
          <p:nvPr/>
        </p:nvSpPr>
        <p:spPr>
          <a:xfrm>
            <a:off x="4364125" y="5124248"/>
            <a:ext cx="2787848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Scalable Interfaces</a:t>
            </a:r>
            <a:endParaRPr lang="en-US" sz="2150" b="1" i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FFCF44-5F07-DE2C-F03F-69A8EFF83AA6}"/>
              </a:ext>
            </a:extLst>
          </p:cNvPr>
          <p:cNvSpPr/>
          <p:nvPr/>
        </p:nvSpPr>
        <p:spPr>
          <a:xfrm>
            <a:off x="4364125" y="5613476"/>
            <a:ext cx="6965752" cy="754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 Bluetooth, UART, and Wi‑Fi modules for 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telemetry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remote </a:t>
            </a: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diagnostics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11392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1133-C37F-F90D-BA16-09F4988B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8EDD5CC-A07B-91F8-EDA7-B472E19AB8FB}"/>
              </a:ext>
            </a:extLst>
          </p:cNvPr>
          <p:cNvSpPr/>
          <p:nvPr/>
        </p:nvSpPr>
        <p:spPr>
          <a:xfrm>
            <a:off x="4000500" y="4314498"/>
            <a:ext cx="3009900" cy="5728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Anomaly detection model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F05F60-A2DC-83E3-2CC0-C68990E38440}"/>
              </a:ext>
            </a:extLst>
          </p:cNvPr>
          <p:cNvSpPr/>
          <p:nvPr/>
        </p:nvSpPr>
        <p:spPr>
          <a:xfrm>
            <a:off x="4000500" y="3586656"/>
            <a:ext cx="3009900" cy="5728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System metrics monitoring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79D9A7-4A73-683B-063C-91C0C825DB6E}"/>
              </a:ext>
            </a:extLst>
          </p:cNvPr>
          <p:cNvSpPr/>
          <p:nvPr/>
        </p:nvSpPr>
        <p:spPr>
          <a:xfrm>
            <a:off x="1026073" y="2858815"/>
            <a:ext cx="2021927" cy="472966"/>
          </a:xfrm>
          <a:prstGeom prst="round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Temperature Sensor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F537B2-FF51-D7EE-E8D3-7AFEE382D2CF}"/>
              </a:ext>
            </a:extLst>
          </p:cNvPr>
          <p:cNvSpPr/>
          <p:nvPr/>
        </p:nvSpPr>
        <p:spPr>
          <a:xfrm>
            <a:off x="1041842" y="3431628"/>
            <a:ext cx="2021927" cy="472966"/>
          </a:xfrm>
          <a:prstGeom prst="round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CPU Load Monitor</a:t>
            </a:r>
            <a:endParaRPr lang="en-IN" sz="1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745A1D-D76E-F5BA-58FD-EDDA409D1B5A}"/>
              </a:ext>
            </a:extLst>
          </p:cNvPr>
          <p:cNvSpPr/>
          <p:nvPr/>
        </p:nvSpPr>
        <p:spPr>
          <a:xfrm>
            <a:off x="1005061" y="3983421"/>
            <a:ext cx="2021927" cy="472966"/>
          </a:xfrm>
          <a:prstGeom prst="round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ISR Latency Timer</a:t>
            </a:r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5C0C31-4815-25DE-C120-C65A5215D05C}"/>
              </a:ext>
            </a:extLst>
          </p:cNvPr>
          <p:cNvSpPr/>
          <p:nvPr/>
        </p:nvSpPr>
        <p:spPr>
          <a:xfrm>
            <a:off x="999810" y="4535214"/>
            <a:ext cx="2063959" cy="472966"/>
          </a:xfrm>
          <a:prstGeom prst="round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Stack Usage Monitor</a:t>
            </a:r>
            <a:endParaRPr lang="en-IN" sz="16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D953BE-3380-6DCF-59E4-B41C9608D5EA}"/>
              </a:ext>
            </a:extLst>
          </p:cNvPr>
          <p:cNvSpPr/>
          <p:nvPr/>
        </p:nvSpPr>
        <p:spPr>
          <a:xfrm>
            <a:off x="4000500" y="2858814"/>
            <a:ext cx="3009900" cy="5728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FreeRTOS</a:t>
            </a:r>
            <a:r>
              <a:rPr lang="en-US" sz="1600" dirty="0">
                <a:solidFill>
                  <a:schemeClr val="tx1"/>
                </a:solidFill>
              </a:rPr>
              <a:t> Scheduler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1E1C57-3A3F-3DF7-89FC-38E28C146233}"/>
              </a:ext>
            </a:extLst>
          </p:cNvPr>
          <p:cNvSpPr/>
          <p:nvPr/>
        </p:nvSpPr>
        <p:spPr>
          <a:xfrm>
            <a:off x="8178362" y="1234967"/>
            <a:ext cx="2310962" cy="4729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Feature Input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B287D7-6534-0678-DA87-BE36D41E1BCE}"/>
              </a:ext>
            </a:extLst>
          </p:cNvPr>
          <p:cNvSpPr/>
          <p:nvPr/>
        </p:nvSpPr>
        <p:spPr>
          <a:xfrm>
            <a:off x="8178362" y="1912883"/>
            <a:ext cx="2310962" cy="4729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Anomaly Score Output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6CE111-97DE-9E90-8EEB-7049CC6F2FD3}"/>
              </a:ext>
            </a:extLst>
          </p:cNvPr>
          <p:cNvSpPr/>
          <p:nvPr/>
        </p:nvSpPr>
        <p:spPr>
          <a:xfrm>
            <a:off x="8367549" y="4062248"/>
            <a:ext cx="2310962" cy="47296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Task Throttling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56349A-F313-C93C-C0E8-D77807FAD211}"/>
              </a:ext>
            </a:extLst>
          </p:cNvPr>
          <p:cNvSpPr/>
          <p:nvPr/>
        </p:nvSpPr>
        <p:spPr>
          <a:xfrm>
            <a:off x="8367549" y="4600906"/>
            <a:ext cx="2310962" cy="47296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Frequency Scaling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65ACE5-331C-064E-E559-E8265B0604FE}"/>
              </a:ext>
            </a:extLst>
          </p:cNvPr>
          <p:cNvSpPr/>
          <p:nvPr/>
        </p:nvSpPr>
        <p:spPr>
          <a:xfrm>
            <a:off x="8378059" y="5139564"/>
            <a:ext cx="2310962" cy="47296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Safe mode/ Restart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8CE6B5-B601-0A5B-5900-E4FA947284E8}"/>
              </a:ext>
            </a:extLst>
          </p:cNvPr>
          <p:cNvSpPr/>
          <p:nvPr/>
        </p:nvSpPr>
        <p:spPr>
          <a:xfrm>
            <a:off x="899939" y="2385849"/>
            <a:ext cx="2402946" cy="2753715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788F8A-799C-7B00-37F0-1AA7DDDDBAAC}"/>
              </a:ext>
            </a:extLst>
          </p:cNvPr>
          <p:cNvSpPr/>
          <p:nvPr/>
        </p:nvSpPr>
        <p:spPr>
          <a:xfrm>
            <a:off x="3724603" y="2385848"/>
            <a:ext cx="3756144" cy="2753715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A4CDE1-738B-C941-C2C2-40A24EBE8015}"/>
              </a:ext>
            </a:extLst>
          </p:cNvPr>
          <p:cNvSpPr/>
          <p:nvPr/>
        </p:nvSpPr>
        <p:spPr>
          <a:xfrm>
            <a:off x="8027250" y="3586656"/>
            <a:ext cx="3019122" cy="2246588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492E0E-BEDC-8FD3-2D3D-F70A81090859}"/>
              </a:ext>
            </a:extLst>
          </p:cNvPr>
          <p:cNvSpPr/>
          <p:nvPr/>
        </p:nvSpPr>
        <p:spPr>
          <a:xfrm>
            <a:off x="7756644" y="825062"/>
            <a:ext cx="3289728" cy="1749974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EE7243-1437-CB96-EE0D-AF09D9E0AD64}"/>
              </a:ext>
            </a:extLst>
          </p:cNvPr>
          <p:cNvSpPr txBox="1"/>
          <p:nvPr/>
        </p:nvSpPr>
        <p:spPr>
          <a:xfrm>
            <a:off x="977813" y="2483833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Sensors &amp; Data Acquisition</a:t>
            </a:r>
            <a:endParaRPr lang="en-IN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2EC9E2-5DB5-A078-B6E5-151DA2C49772}"/>
              </a:ext>
            </a:extLst>
          </p:cNvPr>
          <p:cNvSpPr txBox="1"/>
          <p:nvPr/>
        </p:nvSpPr>
        <p:spPr>
          <a:xfrm>
            <a:off x="4460375" y="2453055"/>
            <a:ext cx="2284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STM32 Microcontroller</a:t>
            </a:r>
            <a:endParaRPr lang="en-IN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FB827-CF35-7337-D82B-11A79E2F7658}"/>
              </a:ext>
            </a:extLst>
          </p:cNvPr>
          <p:cNvSpPr txBox="1"/>
          <p:nvPr/>
        </p:nvSpPr>
        <p:spPr>
          <a:xfrm>
            <a:off x="8010180" y="858672"/>
            <a:ext cx="2731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Machine learning anomaly detection</a:t>
            </a:r>
            <a:endParaRPr lang="en-IN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9A6124-B388-112A-C78F-FA585442010A}"/>
              </a:ext>
            </a:extLst>
          </p:cNvPr>
          <p:cNvSpPr txBox="1"/>
          <p:nvPr/>
        </p:nvSpPr>
        <p:spPr>
          <a:xfrm>
            <a:off x="8600225" y="3695915"/>
            <a:ext cx="18646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Self healing mechanism</a:t>
            </a:r>
            <a:endParaRPr lang="en-IN" sz="12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5EDF24-3D88-BB6E-9413-E2D526C4321D}"/>
              </a:ext>
            </a:extLst>
          </p:cNvPr>
          <p:cNvCxnSpPr>
            <a:endCxn id="20" idx="1"/>
          </p:cNvCxnSpPr>
          <p:nvPr/>
        </p:nvCxnSpPr>
        <p:spPr>
          <a:xfrm>
            <a:off x="3302885" y="3762705"/>
            <a:ext cx="42171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13B977E-AB73-B1FE-6F81-5868F96F3B7D}"/>
              </a:ext>
            </a:extLst>
          </p:cNvPr>
          <p:cNvCxnSpPr/>
          <p:nvPr/>
        </p:nvCxnSpPr>
        <p:spPr>
          <a:xfrm>
            <a:off x="7480747" y="2483833"/>
            <a:ext cx="275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D9B000-4080-2FB7-6B76-641BA1D6AD0F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9333843" y="1707933"/>
            <a:ext cx="0" cy="204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BF526CB-151B-EFBD-CCD1-43F511207F84}"/>
              </a:ext>
            </a:extLst>
          </p:cNvPr>
          <p:cNvCxnSpPr/>
          <p:nvPr/>
        </p:nvCxnSpPr>
        <p:spPr>
          <a:xfrm>
            <a:off x="9375714" y="2385848"/>
            <a:ext cx="0" cy="12008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571D03A-742C-5AA9-1A31-E9CB1D48A9B0}"/>
              </a:ext>
            </a:extLst>
          </p:cNvPr>
          <p:cNvCxnSpPr/>
          <p:nvPr/>
        </p:nvCxnSpPr>
        <p:spPr>
          <a:xfrm flipH="1">
            <a:off x="7010400" y="4535214"/>
            <a:ext cx="10168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55F9FE-6BE2-1384-DE57-89B928E59F5D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2375338" y="5376047"/>
            <a:ext cx="60027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AD5DF5-34A2-976E-EDA3-02111269CF72}"/>
              </a:ext>
            </a:extLst>
          </p:cNvPr>
          <p:cNvCxnSpPr/>
          <p:nvPr/>
        </p:nvCxnSpPr>
        <p:spPr>
          <a:xfrm flipV="1">
            <a:off x="2396359" y="5139563"/>
            <a:ext cx="0" cy="23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C0D3D2C-AC07-2547-19A0-E9C8A90CE3AF}"/>
              </a:ext>
            </a:extLst>
          </p:cNvPr>
          <p:cNvSpPr txBox="1"/>
          <p:nvPr/>
        </p:nvSpPr>
        <p:spPr>
          <a:xfrm>
            <a:off x="9333843" y="2809752"/>
            <a:ext cx="169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Anomaly Detected</a:t>
            </a:r>
            <a:endParaRPr lang="en-IN" sz="1400" b="1" dirty="0">
              <a:solidFill>
                <a:srgbClr val="C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51F90F-6E18-D456-3AB3-FCEDC520DDF2}"/>
              </a:ext>
            </a:extLst>
          </p:cNvPr>
          <p:cNvSpPr txBox="1"/>
          <p:nvPr/>
        </p:nvSpPr>
        <p:spPr>
          <a:xfrm>
            <a:off x="7230523" y="4579534"/>
            <a:ext cx="727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Trigger</a:t>
            </a:r>
            <a:endParaRPr lang="en-IN" sz="1400" b="1" dirty="0">
              <a:solidFill>
                <a:srgbClr val="C0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06757E-49E1-CC0C-586A-70232812FEA9}"/>
              </a:ext>
            </a:extLst>
          </p:cNvPr>
          <p:cNvSpPr txBox="1"/>
          <p:nvPr/>
        </p:nvSpPr>
        <p:spPr>
          <a:xfrm>
            <a:off x="809297" y="692937"/>
            <a:ext cx="4921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Nunito Semi Bold" panose="020B0604020202020204" charset="0"/>
              </a:rPr>
              <a:t>Block Diagram of the work cycle</a:t>
            </a:r>
            <a:endParaRPr lang="en-IN" sz="2400" b="1" i="1" dirty="0">
              <a:latin typeface="Nunito Semi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5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FA08-B764-7FE6-AF45-FA90962B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374420-4C02-BA97-CA7A-503D90FFED7A}"/>
              </a:ext>
            </a:extLst>
          </p:cNvPr>
          <p:cNvSpPr/>
          <p:nvPr/>
        </p:nvSpPr>
        <p:spPr>
          <a:xfrm>
            <a:off x="342423" y="348496"/>
            <a:ext cx="4068842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Literature Review</a:t>
            </a:r>
            <a:endParaRPr lang="en-US" sz="3200" b="1" i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F8F321F-5C8C-0E46-D722-8FC66F219534}"/>
              </a:ext>
            </a:extLst>
          </p:cNvPr>
          <p:cNvSpPr/>
          <p:nvPr/>
        </p:nvSpPr>
        <p:spPr>
          <a:xfrm>
            <a:off x="973057" y="1052751"/>
            <a:ext cx="7933611" cy="2061091"/>
          </a:xfrm>
          <a:prstGeom prst="roundRect">
            <a:avLst>
              <a:gd name="adj" fmla="val 5324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1FBDC6-2F13-EDC0-48F3-EAE1E8023488}"/>
              </a:ext>
            </a:extLst>
          </p:cNvPr>
          <p:cNvSpPr/>
          <p:nvPr/>
        </p:nvSpPr>
        <p:spPr>
          <a:xfrm>
            <a:off x="950197" y="1052751"/>
            <a:ext cx="91440" cy="2061091"/>
          </a:xfrm>
          <a:prstGeom prst="roundRect">
            <a:avLst>
              <a:gd name="adj" fmla="val 283679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2591B3-0350-A14D-1F6D-ED00C682D76C}"/>
              </a:ext>
            </a:extLst>
          </p:cNvPr>
          <p:cNvSpPr/>
          <p:nvPr/>
        </p:nvSpPr>
        <p:spPr>
          <a:xfrm>
            <a:off x="1237375" y="1248490"/>
            <a:ext cx="3541752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Embedded System Health Monitoring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2A5209-7027-6820-D5AC-F7F39231810C}"/>
              </a:ext>
            </a:extLst>
          </p:cNvPr>
          <p:cNvSpPr/>
          <p:nvPr/>
        </p:nvSpPr>
        <p:spPr>
          <a:xfrm>
            <a:off x="1237375" y="1577698"/>
            <a:ext cx="74735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"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Health Monitoring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Embedded Systems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using On-chip Sensors" by J. Smith et al.</a:t>
            </a:r>
            <a:endParaRPr lang="en-US" sz="13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576C24-F5F7-7445-1BC5-B0CE7EF57E92}"/>
              </a:ext>
            </a:extLst>
          </p:cNvPr>
          <p:cNvSpPr/>
          <p:nvPr/>
        </p:nvSpPr>
        <p:spPr>
          <a:xfrm>
            <a:off x="1237375" y="1890713"/>
            <a:ext cx="74735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Relevance: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Outlines methods for assessing MCU 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health parameters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(voltage, temperature, performance counters), directly informing our 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self-awareness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objectives.</a:t>
            </a:r>
            <a:endParaRPr lang="en-US" sz="13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2412B05-82AC-6DE7-5B53-7E0CA9AF6110}"/>
              </a:ext>
            </a:extLst>
          </p:cNvPr>
          <p:cNvSpPr/>
          <p:nvPr/>
        </p:nvSpPr>
        <p:spPr>
          <a:xfrm>
            <a:off x="1237375" y="2441854"/>
            <a:ext cx="74735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Limitations: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Focuses on passive 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fault detection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; lacks proactive adaptation or environmental factor integration into diagnostic models.</a:t>
            </a:r>
            <a:endParaRPr lang="en-US" sz="13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749D778-73DE-AE53-97FB-895F7042DEF7}"/>
              </a:ext>
            </a:extLst>
          </p:cNvPr>
          <p:cNvSpPr/>
          <p:nvPr/>
        </p:nvSpPr>
        <p:spPr>
          <a:xfrm>
            <a:off x="995917" y="3310294"/>
            <a:ext cx="7933611" cy="2299216"/>
          </a:xfrm>
          <a:prstGeom prst="roundRect">
            <a:avLst>
              <a:gd name="adj" fmla="val 4772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7570D9-62FE-6E6D-37FB-AA3C371C3636}"/>
              </a:ext>
            </a:extLst>
          </p:cNvPr>
          <p:cNvSpPr/>
          <p:nvPr/>
        </p:nvSpPr>
        <p:spPr>
          <a:xfrm>
            <a:off x="973057" y="3310294"/>
            <a:ext cx="91440" cy="2299216"/>
          </a:xfrm>
          <a:prstGeom prst="roundRect">
            <a:avLst>
              <a:gd name="adj" fmla="val 283679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681B94-F15D-B9C8-F0C1-A51F3B300911}"/>
              </a:ext>
            </a:extLst>
          </p:cNvPr>
          <p:cNvSpPr/>
          <p:nvPr/>
        </p:nvSpPr>
        <p:spPr>
          <a:xfrm>
            <a:off x="1260235" y="3506033"/>
            <a:ext cx="334553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Low-Power MCU Design Strategies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1D7494-3C5D-DED7-997D-1A1EAF4460A6}"/>
              </a:ext>
            </a:extLst>
          </p:cNvPr>
          <p:cNvSpPr/>
          <p:nvPr/>
        </p:nvSpPr>
        <p:spPr>
          <a:xfrm>
            <a:off x="1260235" y="3835240"/>
            <a:ext cx="74735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"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Dynamic Voltage and Frequency Scaling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Energy-Efficient Microcontrollers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 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IoT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 by A. Chen and M. Lee.</a:t>
            </a: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59F94F-238F-9FC8-8273-13664F7FA852}"/>
              </a:ext>
            </a:extLst>
          </p:cNvPr>
          <p:cNvSpPr/>
          <p:nvPr/>
        </p:nvSpPr>
        <p:spPr>
          <a:xfrm>
            <a:off x="1260235" y="4386381"/>
            <a:ext cx="74735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Relevance: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Investigates power consumption optimization techniques (e.g., 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DVFS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), critical for achieving our project's </a:t>
            </a:r>
            <a:r>
              <a:rPr lang="en-US" sz="13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energy efficiency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targets.</a:t>
            </a:r>
            <a:endParaRPr lang="en-US" sz="13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799CA80-3374-B102-FF19-E09E6C26AEF7}"/>
              </a:ext>
            </a:extLst>
          </p:cNvPr>
          <p:cNvSpPr/>
          <p:nvPr/>
        </p:nvSpPr>
        <p:spPr>
          <a:xfrm>
            <a:off x="1260235" y="4937521"/>
            <a:ext cx="74735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Limitations:</a:t>
            </a: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Assumes stable operating conditions and predictable workloads, not addressing dynamic system changes or unforeseen environmental stressors.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947229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20F88-E394-24E4-8BBE-F00B746FE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4202E70-7186-5A78-DE74-DF4ADAB73B5E}"/>
              </a:ext>
            </a:extLst>
          </p:cNvPr>
          <p:cNvSpPr/>
          <p:nvPr/>
        </p:nvSpPr>
        <p:spPr>
          <a:xfrm>
            <a:off x="931278" y="1034772"/>
            <a:ext cx="8001000" cy="1911668"/>
          </a:xfrm>
          <a:prstGeom prst="roundRect">
            <a:avLst>
              <a:gd name="adj" fmla="val 5740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B856EC-7473-8330-3362-FBF0C42FBFB1}"/>
              </a:ext>
            </a:extLst>
          </p:cNvPr>
          <p:cNvSpPr/>
          <p:nvPr/>
        </p:nvSpPr>
        <p:spPr>
          <a:xfrm>
            <a:off x="908418" y="1034772"/>
            <a:ext cx="91440" cy="1911668"/>
          </a:xfrm>
          <a:prstGeom prst="roundRect">
            <a:avLst>
              <a:gd name="adj" fmla="val 267909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FCD7CF-02D0-C56A-E45F-EA703254A899}"/>
              </a:ext>
            </a:extLst>
          </p:cNvPr>
          <p:cNvSpPr/>
          <p:nvPr/>
        </p:nvSpPr>
        <p:spPr>
          <a:xfrm>
            <a:off x="1185953" y="1220866"/>
            <a:ext cx="4704517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Anomaly Detection</a:t>
            </a: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on Resource-Constrained Devices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0EDB8A-8464-8A1A-B87B-B040CCCC1D83}"/>
              </a:ext>
            </a:extLst>
          </p:cNvPr>
          <p:cNvSpPr/>
          <p:nvPr/>
        </p:nvSpPr>
        <p:spPr>
          <a:xfrm>
            <a:off x="1185953" y="1527809"/>
            <a:ext cx="756023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"Lightweight Machine Learning for </a:t>
            </a:r>
            <a:r>
              <a:rPr lang="en-US" sz="12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Anomaly Detection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 </a:t>
            </a:r>
            <a:r>
              <a:rPr lang="en-US" sz="12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Edge Devices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 by S. Khan and D. Patel.</a:t>
            </a:r>
            <a:endParaRPr lang="en-US" sz="12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C5B306-AC03-F96C-F5AA-061401DD3D82}"/>
              </a:ext>
            </a:extLst>
          </p:cNvPr>
          <p:cNvSpPr/>
          <p:nvPr/>
        </p:nvSpPr>
        <p:spPr>
          <a:xfrm>
            <a:off x="1185953" y="1814393"/>
            <a:ext cx="7560231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Relevance: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Analyzes algorithms for anomaly detection on resource-constrained devices, vital for our diagnostic capabilities.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F92C5F-6043-219C-EA60-0910314942D5}"/>
              </a:ext>
            </a:extLst>
          </p:cNvPr>
          <p:cNvSpPr/>
          <p:nvPr/>
        </p:nvSpPr>
        <p:spPr>
          <a:xfrm>
            <a:off x="1185953" y="2320766"/>
            <a:ext cx="7560231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Limitations: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Requires extensive training data and may struggle with novel anomalies or dynamic environments, risking false positives or missed detections.</a:t>
            </a:r>
            <a:endParaRPr lang="en-US" sz="1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BDF7735-8DF4-C264-C1C6-1CE513F01999}"/>
              </a:ext>
            </a:extLst>
          </p:cNvPr>
          <p:cNvSpPr/>
          <p:nvPr/>
        </p:nvSpPr>
        <p:spPr>
          <a:xfrm>
            <a:off x="908418" y="3198734"/>
            <a:ext cx="8001000" cy="2131457"/>
          </a:xfrm>
          <a:prstGeom prst="roundRect">
            <a:avLst>
              <a:gd name="adj" fmla="val 5148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738E259-0E09-2927-1301-A9D45651B741}"/>
              </a:ext>
            </a:extLst>
          </p:cNvPr>
          <p:cNvSpPr/>
          <p:nvPr/>
        </p:nvSpPr>
        <p:spPr>
          <a:xfrm>
            <a:off x="885558" y="3198734"/>
            <a:ext cx="91440" cy="2131457"/>
          </a:xfrm>
          <a:prstGeom prst="roundRect">
            <a:avLst>
              <a:gd name="adj" fmla="val 267909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1EF1B0-D699-3BFB-0485-DB4CC53DABC4}"/>
              </a:ext>
            </a:extLst>
          </p:cNvPr>
          <p:cNvSpPr/>
          <p:nvPr/>
        </p:nvSpPr>
        <p:spPr>
          <a:xfrm>
            <a:off x="1163093" y="3384829"/>
            <a:ext cx="3684627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IoT</a:t>
            </a: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Resilience and </a:t>
            </a:r>
            <a:r>
              <a:rPr lang="en-US" sz="150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Self-Adaptive Systems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3E140E-8895-6A45-74C8-03C112D7AA3B}"/>
              </a:ext>
            </a:extLst>
          </p:cNvPr>
          <p:cNvSpPr/>
          <p:nvPr/>
        </p:nvSpPr>
        <p:spPr>
          <a:xfrm>
            <a:off x="1163093" y="3691772"/>
            <a:ext cx="7560231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Source: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"Towards Self-Healing </a:t>
            </a:r>
            <a:r>
              <a:rPr lang="en-US" sz="12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IoT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Architectures through </a:t>
            </a:r>
            <a:r>
              <a:rPr lang="en-US" sz="12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Adaptive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Software Reconfiguration" by L. Garcia et al.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455DF63-64A7-3BAB-B74E-C52F75392E43}"/>
              </a:ext>
            </a:extLst>
          </p:cNvPr>
          <p:cNvSpPr/>
          <p:nvPr/>
        </p:nvSpPr>
        <p:spPr>
          <a:xfrm>
            <a:off x="1163093" y="4198145"/>
            <a:ext cx="7560231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Relevance: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Examines methods for systems to automatically adapt to faults or changing conditions, crucial for real-time adaptation and resilience.</a:t>
            </a:r>
            <a:endParaRPr lang="en-US" sz="12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0863C4B-749F-39AB-38EE-657DE70C3D57}"/>
              </a:ext>
            </a:extLst>
          </p:cNvPr>
          <p:cNvSpPr/>
          <p:nvPr/>
        </p:nvSpPr>
        <p:spPr>
          <a:xfrm>
            <a:off x="1163093" y="4704518"/>
            <a:ext cx="7560231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Limitations: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Frameworks are often high-level or simulation-based, lacking practical validation on specific hardware like the </a:t>
            </a:r>
            <a:r>
              <a:rPr lang="en-US" sz="12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STM32F103C8T6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D0F84728-9839-1A7A-DCB5-809AC97E658E}"/>
              </a:ext>
            </a:extLst>
          </p:cNvPr>
          <p:cNvSpPr/>
          <p:nvPr/>
        </p:nvSpPr>
        <p:spPr>
          <a:xfrm>
            <a:off x="342423" y="348496"/>
            <a:ext cx="4068842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Literature Review</a:t>
            </a:r>
            <a:endParaRPr 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2358289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DC17-4723-CD47-F4BE-7E66E894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A9D45B6A-23D4-4AC8-AEEF-278B333A2AB7}"/>
              </a:ext>
            </a:extLst>
          </p:cNvPr>
          <p:cNvSpPr/>
          <p:nvPr/>
        </p:nvSpPr>
        <p:spPr>
          <a:xfrm>
            <a:off x="5821972" y="1068812"/>
            <a:ext cx="4035972" cy="5455393"/>
          </a:xfrm>
          <a:prstGeom prst="roundRect">
            <a:avLst>
              <a:gd name="adj" fmla="val 15198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D3F9DE4-B098-4159-6523-DD256AE69880}"/>
              </a:ext>
            </a:extLst>
          </p:cNvPr>
          <p:cNvSpPr/>
          <p:nvPr/>
        </p:nvSpPr>
        <p:spPr>
          <a:xfrm>
            <a:off x="1481959" y="1068813"/>
            <a:ext cx="4035972" cy="5455393"/>
          </a:xfrm>
          <a:prstGeom prst="roundRect">
            <a:avLst>
              <a:gd name="adj" fmla="val 15198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4674545-181C-E7D0-63CB-28BED54CFD82}"/>
              </a:ext>
            </a:extLst>
          </p:cNvPr>
          <p:cNvSpPr/>
          <p:nvPr/>
        </p:nvSpPr>
        <p:spPr>
          <a:xfrm>
            <a:off x="448841" y="181657"/>
            <a:ext cx="696694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000" b="1" i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Research Gap &amp; Motivation</a:t>
            </a:r>
            <a:endParaRPr lang="en-US" sz="4000" b="1" i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E4C6EC-2523-B749-7543-18B1ED7A7BB7}"/>
              </a:ext>
            </a:extLst>
          </p:cNvPr>
          <p:cNvSpPr/>
          <p:nvPr/>
        </p:nvSpPr>
        <p:spPr>
          <a:xfrm>
            <a:off x="1899268" y="1284266"/>
            <a:ext cx="34423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Current Landscape &amp; Limitations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04E936-FCF4-9E0E-B2E1-03BAE1791956}"/>
              </a:ext>
            </a:extLst>
          </p:cNvPr>
          <p:cNvSpPr/>
          <p:nvPr/>
        </p:nvSpPr>
        <p:spPr>
          <a:xfrm>
            <a:off x="1899268" y="2227479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Existing literature offers valuable insights, but often:</a:t>
            </a:r>
            <a:endParaRPr lang="en-US" sz="1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7A940B-8571-BE78-1DB9-9D703B72AB9B}"/>
              </a:ext>
            </a:extLst>
          </p:cNvPr>
          <p:cNvSpPr/>
          <p:nvPr/>
        </p:nvSpPr>
        <p:spPr>
          <a:xfrm>
            <a:off x="1899268" y="3208911"/>
            <a:ext cx="3442335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Passive monitoring, no proactive adaptation.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Theoretical frameworks or simulations.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Ignores real-world MCU constraints.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Relies on external diagnostics/self-healing.</a:t>
            </a:r>
            <a:endParaRPr lang="en-US" sz="1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967D01-659B-583E-77FB-E9F140ACF7BE}"/>
              </a:ext>
            </a:extLst>
          </p:cNvPr>
          <p:cNvSpPr/>
          <p:nvPr/>
        </p:nvSpPr>
        <p:spPr>
          <a:xfrm>
            <a:off x="6237905" y="1284266"/>
            <a:ext cx="34423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Our Project: Bridging the Divide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8F3842-97BC-37DD-C2A7-72B0CFEDC110}"/>
              </a:ext>
            </a:extLst>
          </p:cNvPr>
          <p:cNvSpPr/>
          <p:nvPr/>
        </p:nvSpPr>
        <p:spPr>
          <a:xfrm>
            <a:off x="6237905" y="2227479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project directly addresses these gaps by:</a:t>
            </a:r>
            <a:endParaRPr lang="en-US" sz="1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3926EB-199C-2130-29BE-840C26873DEC}"/>
              </a:ext>
            </a:extLst>
          </p:cNvPr>
          <p:cNvSpPr/>
          <p:nvPr/>
        </p:nvSpPr>
        <p:spPr>
          <a:xfrm>
            <a:off x="6237905" y="3208911"/>
            <a:ext cx="3442335" cy="293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Practical, self-aware STM32F103C8T6.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anomaly detection (&lt;100ms).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Multi-protocol telemetry.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Autonomous adaptation, no external help.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224084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5285-1591-79C2-CF73-50C24C892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8B2856-6F4A-120C-FB1E-50C438D010F7}"/>
              </a:ext>
            </a:extLst>
          </p:cNvPr>
          <p:cNvSpPr/>
          <p:nvPr/>
        </p:nvSpPr>
        <p:spPr>
          <a:xfrm>
            <a:off x="695743" y="1093079"/>
            <a:ext cx="9224325" cy="25088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289035" y="264757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i="1" dirty="0">
                <a:latin typeface="Nunito Semi Bold" panose="020B0604020202020204" charset="0"/>
              </a:rPr>
              <a:t>Hardware &amp; Software Architecture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88429" y="1347953"/>
            <a:ext cx="8229600" cy="21730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PT Sans" panose="020B0503020203020204" pitchFamily="34" charset="0"/>
              </a:rPr>
              <a:t>Hardware: STM32F103C8 (Blue Pill) ARM Cortex-M3.</a:t>
            </a:r>
          </a:p>
          <a:p>
            <a:pPr lvl="1"/>
            <a:r>
              <a:rPr lang="en-IN" dirty="0">
                <a:latin typeface="PT Sans" panose="020B0503020203020204" pitchFamily="34" charset="0"/>
              </a:rPr>
              <a:t>Firmware: Arduino IDE (STM32duino core).</a:t>
            </a:r>
          </a:p>
          <a:p>
            <a:pPr lvl="1"/>
            <a:r>
              <a:rPr lang="en-IN" dirty="0">
                <a:latin typeface="PT Sans" panose="020B0503020203020204" pitchFamily="34" charset="0"/>
              </a:rPr>
              <a:t>Operating System: </a:t>
            </a:r>
            <a:r>
              <a:rPr lang="en-IN" dirty="0" err="1">
                <a:latin typeface="PT Sans" panose="020B0503020203020204" pitchFamily="34" charset="0"/>
              </a:rPr>
              <a:t>FreeRTOS</a:t>
            </a:r>
            <a:r>
              <a:rPr lang="en-IN" dirty="0">
                <a:latin typeface="PT Sans" panose="020B0503020203020204" pitchFamily="34" charset="0"/>
              </a:rPr>
              <a:t>.</a:t>
            </a:r>
          </a:p>
          <a:p>
            <a:pPr lvl="1"/>
            <a:r>
              <a:rPr lang="en-IN" dirty="0">
                <a:latin typeface="PT Sans" panose="020B0503020203020204" pitchFamily="34" charset="0"/>
              </a:rPr>
              <a:t>AI Engine: Edge Impulse </a:t>
            </a:r>
            <a:r>
              <a:rPr lang="en-IN" dirty="0" err="1">
                <a:latin typeface="PT Sans" panose="020B0503020203020204" pitchFamily="34" charset="0"/>
              </a:rPr>
              <a:t>TinyML</a:t>
            </a:r>
            <a:r>
              <a:rPr lang="en-IN" dirty="0">
                <a:latin typeface="PT Sans" panose="020B0503020203020204" pitchFamily="34" charset="0"/>
              </a:rPr>
              <a:t> (Autoencoder)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75C1AA-0CA1-49C8-DAE4-FF5123FCA2E1}"/>
              </a:ext>
            </a:extLst>
          </p:cNvPr>
          <p:cNvSpPr/>
          <p:nvPr/>
        </p:nvSpPr>
        <p:spPr>
          <a:xfrm>
            <a:off x="695743" y="3887461"/>
            <a:ext cx="2912991" cy="27594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9DB499-BE41-C3D1-1536-2F3B1B454FB4}"/>
              </a:ext>
            </a:extLst>
          </p:cNvPr>
          <p:cNvSpPr/>
          <p:nvPr/>
        </p:nvSpPr>
        <p:spPr>
          <a:xfrm>
            <a:off x="7110256" y="3887462"/>
            <a:ext cx="2912991" cy="27594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089E6C7-A51E-3B80-3EBB-574EF22C9943}"/>
              </a:ext>
            </a:extLst>
          </p:cNvPr>
          <p:cNvSpPr/>
          <p:nvPr/>
        </p:nvSpPr>
        <p:spPr>
          <a:xfrm>
            <a:off x="1015370" y="4181269"/>
            <a:ext cx="223420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Benefits</a:t>
            </a:r>
            <a:endParaRPr lang="en-US" sz="185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1056D2C-AF77-0733-A2BC-A7FBDB7E3472}"/>
              </a:ext>
            </a:extLst>
          </p:cNvPr>
          <p:cNvSpPr/>
          <p:nvPr/>
        </p:nvSpPr>
        <p:spPr>
          <a:xfrm>
            <a:off x="1015370" y="4654185"/>
            <a:ext cx="2234208" cy="150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Self‑awareness</a:t>
            </a: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enables quicker </a:t>
            </a:r>
            <a:r>
              <a:rPr lang="en-US" sz="16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fault detection</a:t>
            </a: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6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adaptive energy savings</a:t>
            </a: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and improved operational uptime.</a:t>
            </a:r>
            <a:endParaRPr lang="en-US" sz="160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49B47769-D6CC-6D0B-3CF9-675B6A37D93A}"/>
              </a:ext>
            </a:extLst>
          </p:cNvPr>
          <p:cNvSpPr/>
          <p:nvPr/>
        </p:nvSpPr>
        <p:spPr>
          <a:xfrm>
            <a:off x="7685741" y="4181269"/>
            <a:ext cx="2234327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Applications</a:t>
            </a:r>
            <a:endParaRPr lang="en-US" sz="1850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EF5AC1E8-F664-9DF1-87DC-D62454739EB0}"/>
              </a:ext>
            </a:extLst>
          </p:cNvPr>
          <p:cNvSpPr/>
          <p:nvPr/>
        </p:nvSpPr>
        <p:spPr>
          <a:xfrm>
            <a:off x="7685741" y="4654185"/>
            <a:ext cx="2234327" cy="150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Resilient environmental monitors, autonomous smart automation nodes, and safety‑critical </a:t>
            </a:r>
            <a:r>
              <a:rPr lang="en-US" sz="16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CPS endpoints</a:t>
            </a: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8718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641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Nunito Semi Bold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pathipati</dc:creator>
  <cp:lastModifiedBy>yogesh pathipati</cp:lastModifiedBy>
  <cp:revision>7</cp:revision>
  <dcterms:created xsi:type="dcterms:W3CDTF">2026-02-25T03:53:47Z</dcterms:created>
  <dcterms:modified xsi:type="dcterms:W3CDTF">2026-04-10T07:05:30Z</dcterms:modified>
</cp:coreProperties>
</file>